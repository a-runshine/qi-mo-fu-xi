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71" r:id="rId3"/>
    <p:sldId id="366" r:id="rId4"/>
    <p:sldId id="369" r:id="rId5"/>
    <p:sldId id="372" r:id="rId6"/>
    <p:sldId id="367" r:id="rId7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CC"/>
    <a:srgbClr val="004032"/>
    <a:srgbClr val="6B4560"/>
    <a:srgbClr val="FF99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139"/>
    <p:restoredTop sz="86410"/>
  </p:normalViewPr>
  <p:slideViewPr>
    <p:cSldViewPr snapToGrid="0" showGuides="1">
      <p:cViewPr varScale="1">
        <p:scale>
          <a:sx n="83" d="100"/>
          <a:sy n="83" d="100"/>
        </p:scale>
        <p:origin x="1493" y="72"/>
      </p:cViewPr>
      <p:guideLst>
        <p:guide orient="horz" pos="21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8404" cy="384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1413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718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  <a:endParaRPr lang="en-US" altLang="zh-CN" strike="noStrike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A43131-F658-4088-850F-D0D646434D1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97075" y="1554163"/>
            <a:ext cx="327025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9725" y="1554163"/>
            <a:ext cx="327183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19938" y="274638"/>
            <a:ext cx="1944687" cy="580548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81113" y="274638"/>
            <a:ext cx="5686425" cy="58054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113" y="274638"/>
            <a:ext cx="7783512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997075" y="1554163"/>
            <a:ext cx="3270250" cy="45259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9725" y="1554163"/>
            <a:ext cx="3271838" cy="45259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81113" y="274638"/>
            <a:ext cx="7783512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1997075" y="1554163"/>
            <a:ext cx="6694488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403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BA7D71-0D85-4A24-B8A5-19F888BFA17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4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403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403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4032"/>
                </a:solidFill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400" b="1">
          <a:solidFill>
            <a:srgbClr val="004032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4400" b="1">
          <a:solidFill>
            <a:srgbClr val="00403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600" b="1">
          <a:solidFill>
            <a:srgbClr val="00403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403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403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4032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4032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4032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4032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4032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4"/>
          <p:cNvSpPr/>
          <p:nvPr/>
        </p:nvSpPr>
        <p:spPr>
          <a:xfrm>
            <a:off x="323850" y="549275"/>
            <a:ext cx="8208963" cy="26638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6000" b="1" dirty="0">
                <a:latin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br>
              <a:rPr lang="zh-CN" altLang="en-US" sz="6000" dirty="0">
                <a:latin typeface="黑体" panose="02010609060101010101" pitchFamily="49" charset="-122"/>
                <a:sym typeface="宋体" panose="02010600030101010101" pitchFamily="2" charset="-122"/>
              </a:rPr>
            </a:br>
            <a:r>
              <a:rPr lang="zh-CN" altLang="en-US" sz="6000" dirty="0">
                <a:latin typeface="黑体" panose="02010609060101010101" pitchFamily="49" charset="-122"/>
                <a:sym typeface="宋体" panose="02010600030101010101" pitchFamily="2" charset="-122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An Introduction to Database System</a:t>
            </a:r>
            <a:endParaRPr lang="en-US" altLang="zh-CN" sz="3600" b="1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8" name="矩形 7"/>
          <p:cNvSpPr/>
          <p:nvPr/>
        </p:nvSpPr>
        <p:spPr>
          <a:xfrm>
            <a:off x="684213" y="3541713"/>
            <a:ext cx="7632700" cy="8239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4800" b="1" dirty="0">
                <a:latin typeface="黑体" panose="02010609060101010101" pitchFamily="49" charset="-122"/>
              </a:rPr>
              <a:t>复习</a:t>
            </a:r>
            <a:endParaRPr lang="zh-CN" altLang="en-US" sz="4800" b="1" dirty="0">
              <a:latin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72590" y="4779010"/>
            <a:ext cx="565658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500"/>
              <a:t>西南民族大学计算机与人工智能学院</a:t>
            </a:r>
            <a:endParaRPr lang="zh-CN" altLang="en-US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6"/>
          <p:cNvSpPr txBox="1">
            <a:spLocks noGrp="1"/>
          </p:cNvSpPr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r"/>
            <a:fld id="{9A0DB2DC-4C9A-4742-B13C-FB6460FD3503}" type="slidenum">
              <a:rPr lang="en-US" altLang="zh-CN" sz="1400" dirty="0">
                <a:solidFill>
                  <a:srgbClr val="00403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rgbClr val="00403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390525" y="0"/>
            <a:ext cx="7783513" cy="960438"/>
          </a:xfrm>
        </p:spPr>
        <p:txBody>
          <a:bodyPr vert="horz" wrap="square" lIns="91440" tIns="45720" rIns="91440" bIns="45720" anchor="ctr" anchorCtr="0"/>
          <a:p>
            <a:r>
              <a:rPr lang="zh-CN" altLang="en-US" sz="4800" dirty="0">
                <a:solidFill>
                  <a:schemeClr val="tx1"/>
                </a:solidFill>
              </a:rPr>
              <a:t>复习</a:t>
            </a:r>
            <a:endParaRPr lang="zh-CN" altLang="en-US" sz="4800" dirty="0">
              <a:solidFill>
                <a:schemeClr val="tx1"/>
              </a:solidFill>
            </a:endParaRPr>
          </a:p>
        </p:txBody>
      </p:sp>
      <p:sp>
        <p:nvSpPr>
          <p:cNvPr id="5123" name="Text Box 5"/>
          <p:cNvSpPr txBox="1"/>
          <p:nvPr/>
        </p:nvSpPr>
        <p:spPr>
          <a:xfrm>
            <a:off x="654050" y="1023938"/>
            <a:ext cx="43037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403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</a:rPr>
              <a:t>题型及分数分布：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5124" name="Text Box 6"/>
          <p:cNvSpPr txBox="1"/>
          <p:nvPr/>
        </p:nvSpPr>
        <p:spPr>
          <a:xfrm>
            <a:off x="1002030" y="1606550"/>
            <a:ext cx="7408545" cy="26644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>
                <a:latin typeface="Arial" panose="020B0604020202020204" pitchFamily="34" charset="0"/>
              </a:rPr>
              <a:t>一、单项选择题（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/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×10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题，共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20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zh-CN" altLang="en-US" sz="2400" dirty="0">
                <a:latin typeface="Arial" panose="020B0604020202020204" pitchFamily="34" charset="0"/>
              </a:rPr>
              <a:t>）；</a:t>
            </a:r>
            <a:endParaRPr lang="zh-CN" altLang="en-US" sz="800" dirty="0">
              <a:solidFill>
                <a:srgbClr val="004032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>
                <a:latin typeface="Arial" panose="020B0604020202020204" pitchFamily="34" charset="0"/>
              </a:rPr>
              <a:t>二、填空题（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/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空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×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10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空，共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20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zh-CN" altLang="en-US" sz="2400" dirty="0">
                <a:latin typeface="Arial" panose="020B0604020202020204" pitchFamily="34" charset="0"/>
              </a:rPr>
              <a:t>）；</a:t>
            </a:r>
            <a:endParaRPr lang="en-US" altLang="zh-CN" sz="800" dirty="0">
              <a:solidFill>
                <a:srgbClr val="004032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>
                <a:latin typeface="Arial" panose="020B0604020202020204" pitchFamily="34" charset="0"/>
              </a:rPr>
              <a:t>三、</a:t>
            </a:r>
            <a:r>
              <a:rPr lang="zh-CN" altLang="en-US" sz="2400" dirty="0">
                <a:sym typeface="+mn-ea"/>
              </a:rPr>
              <a:t>简答题</a:t>
            </a: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题，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7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分，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6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分，共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20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zh-CN" altLang="en-US" sz="2400" dirty="0">
                <a:latin typeface="Arial" panose="020B0604020202020204" pitchFamily="34" charset="0"/>
              </a:rPr>
              <a:t>）；</a:t>
            </a:r>
            <a:endParaRPr lang="en-US" altLang="zh-CN" sz="800" dirty="0">
              <a:solidFill>
                <a:srgbClr val="004032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>
                <a:latin typeface="Arial" panose="020B0604020202020204" pitchFamily="34" charset="0"/>
              </a:rPr>
              <a:t>四、</a:t>
            </a:r>
            <a:r>
              <a:rPr lang="en-US" altLang="zh-CN" sz="2400" dirty="0">
                <a:sym typeface="+mn-ea"/>
              </a:rPr>
              <a:t>SQL</a:t>
            </a:r>
            <a:r>
              <a:rPr lang="zh-CN" altLang="en-US" sz="2400" dirty="0">
                <a:sym typeface="+mn-ea"/>
              </a:rPr>
              <a:t>应用题</a:t>
            </a: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6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/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</a:t>
            </a:r>
            <a:r>
              <a:rPr lang="en-US" altLang="zh-CN" sz="2400" dirty="0">
                <a:solidFill>
                  <a:srgbClr val="0000CC"/>
                </a:solidFill>
                <a:sym typeface="+mn-ea"/>
              </a:rPr>
              <a:t>×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4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题，共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24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zh-CN" altLang="en-US" sz="2400" dirty="0">
                <a:latin typeface="Arial" panose="020B0604020202020204" pitchFamily="34" charset="0"/>
              </a:rPr>
              <a:t>）；</a:t>
            </a:r>
            <a:endParaRPr lang="en-US" altLang="zh-CN" sz="800" dirty="0">
              <a:solidFill>
                <a:srgbClr val="004032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>
                <a:latin typeface="Arial" panose="020B0604020202020204" pitchFamily="34" charset="0"/>
              </a:rPr>
              <a:t>五、设计</a:t>
            </a:r>
            <a:r>
              <a:rPr lang="zh-CN" altLang="en-US" sz="2400" dirty="0">
                <a:latin typeface="Arial" panose="020B0604020202020204" pitchFamily="34" charset="0"/>
              </a:rPr>
              <a:t>题（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 8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/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× 2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题，共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</a:rPr>
              <a:t>16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</a:rPr>
              <a:t>分</a:t>
            </a:r>
            <a:r>
              <a:rPr lang="zh-CN" altLang="en-US" sz="2400" dirty="0">
                <a:latin typeface="Arial" panose="020B0604020202020204" pitchFamily="34" charset="0"/>
              </a:rPr>
              <a:t>）；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6"/>
          <p:cNvSpPr txBox="1">
            <a:spLocks noGrp="1"/>
          </p:cNvSpPr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r"/>
            <a:fld id="{9A0DB2DC-4C9A-4742-B13C-FB6460FD3503}" type="slidenum">
              <a:rPr lang="en-US" altLang="zh-CN" sz="1400" dirty="0">
                <a:solidFill>
                  <a:srgbClr val="00403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rgbClr val="00403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390525" y="0"/>
            <a:ext cx="7783513" cy="960438"/>
          </a:xfrm>
        </p:spPr>
        <p:txBody>
          <a:bodyPr vert="horz" wrap="square" lIns="91440" tIns="45720" rIns="91440" bIns="45720" anchor="ctr" anchorCtr="0"/>
          <a:p>
            <a:r>
              <a:rPr lang="zh-CN" altLang="en-US" sz="4800" dirty="0">
                <a:solidFill>
                  <a:schemeClr val="tx1"/>
                </a:solidFill>
              </a:rPr>
              <a:t>复习</a:t>
            </a:r>
            <a:endParaRPr lang="zh-CN" altLang="en-US" sz="4800" dirty="0">
              <a:solidFill>
                <a:schemeClr val="tx1"/>
              </a:solidFill>
            </a:endParaRPr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286385" y="1252220"/>
            <a:ext cx="8804910" cy="36817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500" b="1" kern="1200" cap="none" spc="0" normalizeH="0" baseline="0" noProof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1500" b="1" kern="1200" cap="none" spc="0" normalizeH="0" baseline="0" noProof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第一章：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 typeface="Wingdings" panose="05000000000000000000" pitchFamily="2" charset="2"/>
              <a:defRPr/>
            </a:pP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             1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、</a:t>
            </a:r>
            <a:r>
              <a:rPr lang="zh-CN" altLang="en-US" sz="1500" b="1" noProof="0" dirty="0">
                <a:solidFill>
                  <a:schemeClr val="tx1"/>
                </a:solidFill>
                <a:sym typeface="+mn-ea"/>
              </a:rPr>
              <a:t>数据库系统的特点；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 typeface="Wingdings" panose="05000000000000000000" pitchFamily="2" charset="2"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              2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、三类数据库逻辑模型各自特点（</a:t>
            </a:r>
            <a:r>
              <a:rPr kumimoji="0" lang="zh-CN" altLang="en-US" sz="15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优缺点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）；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第二章：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 typeface="Wingdings" panose="05000000000000000000" charset="0"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              1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、关系代数（</a:t>
            </a:r>
            <a:r>
              <a:rPr kumimoji="0" lang="zh-CN" altLang="en-US" sz="15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全面掌握八种运算的含义及特点；表达查询目标及</a:t>
            </a:r>
            <a:r>
              <a:rPr kumimoji="0" lang="zh-CN" altLang="en-US" sz="15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计算；与</a:t>
            </a:r>
            <a:r>
              <a:rPr kumimoji="0" lang="en-US" altLang="zh-CN" sz="15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SQL</a:t>
            </a:r>
            <a:r>
              <a:rPr kumimoji="0" lang="zh-CN" altLang="en-US" sz="15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语句转换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）；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第三章：</a:t>
            </a: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 typeface="Wingdings" panose="05000000000000000000" pitchFamily="2" charset="2"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              1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、聚集函数、GROUP BY 相关知识；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              2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、</a:t>
            </a:r>
            <a:r>
              <a:rPr lang="zh-CN" altLang="en-US" sz="1500" b="1" noProof="0" dirty="0">
                <a:solidFill>
                  <a:schemeClr val="tx1"/>
                </a:solidFill>
                <a:sym typeface="+mn-ea"/>
              </a:rPr>
              <a:t>视图相关知识；</a:t>
            </a:r>
            <a:endParaRPr lang="zh-CN" altLang="en-US" sz="1500" b="1" noProof="0" dirty="0">
              <a:solidFill>
                <a:schemeClr val="tx1"/>
              </a:solidFill>
              <a:sym typeface="+mn-ea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                 3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、索引相关知识；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                 4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、空值处理；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 </a:t>
            </a: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                5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、嵌套查询相关知识；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 </a:t>
            </a: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                6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、字符串匹配相关</a:t>
            </a:r>
            <a:r>
              <a:rPr kumimoji="0" lang="zh-CN" altLang="en-US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知识；</a:t>
            </a:r>
            <a:endParaRPr kumimoji="0" lang="zh-CN" altLang="en-US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R="0" defTabSz="914400"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500" b="1" kern="1200" cap="none" spc="0" normalizeH="0" baseline="0" noProof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                 </a:t>
            </a:r>
            <a:r>
              <a:rPr lang="en-US" altLang="zh-CN" sz="1500" b="1" noProof="0" dirty="0">
                <a:sym typeface="+mn-ea"/>
              </a:rPr>
              <a:t>7</a:t>
            </a:r>
            <a:r>
              <a:rPr lang="zh-CN" altLang="en-US" sz="1500" b="1" noProof="0" dirty="0">
                <a:sym typeface="+mn-ea"/>
              </a:rPr>
              <a:t>、</a:t>
            </a:r>
            <a:r>
              <a:rPr lang="zh-CN" altLang="en-US" sz="1500" b="1" dirty="0">
                <a:sym typeface="+mn-ea"/>
              </a:rPr>
              <a:t>根据给定关系数据库模式，按照题目要求，合理运用</a:t>
            </a:r>
            <a:r>
              <a:rPr lang="en-US" altLang="zh-CN" sz="1500" b="1" dirty="0">
                <a:sym typeface="+mn-ea"/>
              </a:rPr>
              <a:t>SQL</a:t>
            </a:r>
            <a:r>
              <a:rPr lang="zh-CN" altLang="en-US" sz="1500" b="1" dirty="0">
                <a:sym typeface="+mn-ea"/>
              </a:rPr>
              <a:t>中的</a:t>
            </a:r>
            <a:r>
              <a:rPr lang="en-US" altLang="zh-CN" sz="1500" b="1" dirty="0">
                <a:sym typeface="+mn-ea"/>
              </a:rPr>
              <a:t>DDL</a:t>
            </a:r>
            <a:r>
              <a:rPr lang="zh-CN" altLang="en-US" sz="1500" b="1" dirty="0">
                <a:sym typeface="+mn-ea"/>
              </a:rPr>
              <a:t>、</a:t>
            </a:r>
            <a:r>
              <a:rPr lang="en-US" altLang="zh-CN" sz="1500" b="1" dirty="0">
                <a:sym typeface="+mn-ea"/>
              </a:rPr>
              <a:t>DML</a:t>
            </a:r>
            <a:r>
              <a:rPr lang="zh-CN" altLang="en-US" sz="1500" b="1" dirty="0">
                <a:sym typeface="+mn-ea"/>
              </a:rPr>
              <a:t>编写相应的</a:t>
            </a:r>
            <a:r>
              <a:rPr lang="en-US" altLang="zh-CN" sz="1500" b="1" dirty="0">
                <a:sym typeface="+mn-ea"/>
              </a:rPr>
              <a:t>SQL</a:t>
            </a:r>
            <a:r>
              <a:rPr lang="zh-CN" altLang="en-US" sz="1500" b="1" dirty="0">
                <a:sym typeface="+mn-ea"/>
              </a:rPr>
              <a:t>脚本。（</a:t>
            </a:r>
            <a:r>
              <a:rPr lang="zh-CN" altLang="en-US" sz="1500" b="1" noProof="0" dirty="0">
                <a:solidFill>
                  <a:srgbClr val="FF0000"/>
                </a:solidFill>
                <a:sym typeface="+mn-ea"/>
              </a:rPr>
              <a:t>对象：基本表、视图、完整性约束、权限、触发器</a:t>
            </a:r>
            <a:r>
              <a:rPr lang="zh-CN" altLang="en-US" sz="1500" b="1" dirty="0">
                <a:sym typeface="+mn-ea"/>
              </a:rPr>
              <a:t>）</a:t>
            </a:r>
            <a:endParaRPr kumimoji="0" lang="en-US" altLang="zh-CN" sz="1500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6148" name="Text Box 6"/>
          <p:cNvSpPr txBox="1"/>
          <p:nvPr/>
        </p:nvSpPr>
        <p:spPr>
          <a:xfrm>
            <a:off x="286385" y="730250"/>
            <a:ext cx="56540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403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</a:rPr>
              <a:t>复习指南：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6"/>
          <p:cNvSpPr txBox="1">
            <a:spLocks noGrp="1"/>
          </p:cNvSpPr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r"/>
            <a:fld id="{9A0DB2DC-4C9A-4742-B13C-FB6460FD3503}" type="slidenum">
              <a:rPr lang="en-US" altLang="zh-CN" sz="1400" dirty="0">
                <a:solidFill>
                  <a:srgbClr val="00403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rgbClr val="00403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390525" y="0"/>
            <a:ext cx="7783513" cy="960438"/>
          </a:xfrm>
        </p:spPr>
        <p:txBody>
          <a:bodyPr vert="horz" wrap="square" lIns="91440" tIns="45720" rIns="91440" bIns="45720" anchor="ctr" anchorCtr="0"/>
          <a:p>
            <a:r>
              <a:rPr lang="zh-CN" altLang="en-US" sz="4800" dirty="0">
                <a:solidFill>
                  <a:schemeClr val="tx1"/>
                </a:solidFill>
              </a:rPr>
              <a:t>复习</a:t>
            </a:r>
            <a:endParaRPr lang="zh-CN" altLang="en-US" sz="4800" dirty="0">
              <a:solidFill>
                <a:schemeClr val="tx1"/>
              </a:solidFill>
            </a:endParaRPr>
          </a:p>
        </p:txBody>
      </p:sp>
      <p:sp>
        <p:nvSpPr>
          <p:cNvPr id="7171" name="Text Box 4"/>
          <p:cNvSpPr txBox="1"/>
          <p:nvPr/>
        </p:nvSpPr>
        <p:spPr>
          <a:xfrm>
            <a:off x="254635" y="840105"/>
            <a:ext cx="8765540" cy="4206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Arial" panose="020B0604020202020204" pitchFamily="34" charset="0"/>
              </a:rPr>
              <a:t> </a:t>
            </a:r>
            <a:r>
              <a:rPr lang="zh-CN" altLang="en-US" sz="1500" b="1" dirty="0">
                <a:latin typeface="Arial" panose="020B0604020202020204" pitchFamily="34" charset="0"/>
              </a:rPr>
              <a:t>第四章：</a:t>
            </a:r>
            <a:endParaRPr lang="en-US" altLang="zh-CN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1、各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类存取控制机制相关知识；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2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 pitchFamily="34" charset="0"/>
              </a:rPr>
              <a:t>综合运用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数据库权限控制机制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 pitchFamily="34" charset="0"/>
              </a:rPr>
              <a:t>设计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满足需求的权限控制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 pitchFamily="34" charset="0"/>
              </a:rPr>
              <a:t>方案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；</a:t>
            </a:r>
            <a:endParaRPr lang="zh-CN" altLang="en-US" sz="1500" b="1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第五章：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</a:t>
            </a:r>
            <a:r>
              <a:rPr lang="en-US" altLang="zh-CN" sz="1500" b="1" dirty="0">
                <a:solidFill>
                  <a:srgbClr val="00B0F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各类完整性约束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内涵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及定义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2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关系数据库完整性约束子系统工作方式，以及针对各类完整性约束的违约检查与处理；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3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、断言（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 pitchFamily="34" charset="0"/>
              </a:rPr>
              <a:t>涉及多个表或聚集操作的完整性约束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）相关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知识；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4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、触发器相关知识及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 pitchFamily="34" charset="0"/>
              </a:rPr>
              <a:t>应用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；</a:t>
            </a:r>
            <a:endParaRPr lang="en-US" altLang="zh-CN" sz="1500" b="1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第六章： 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sz="1500" b="1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500" b="1" dirty="0">
                <a:solidFill>
                  <a:schemeClr val="tx1"/>
                </a:solidFill>
                <a:sym typeface="+mn-ea"/>
              </a:rPr>
              <a:t>、关系码的定义及相关知识；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2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规范化理论相关知识</a:t>
            </a:r>
            <a:r>
              <a:rPr lang="zh-CN" altLang="en-US" sz="1500" b="1" dirty="0">
                <a:solidFill>
                  <a:schemeClr val="tx1"/>
                </a:solidFill>
                <a:sym typeface="+mn-ea"/>
              </a:rPr>
              <a:t>；</a:t>
            </a:r>
            <a:endParaRPr lang="zh-CN" altLang="en-US" sz="1500" b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ts val="2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15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sym typeface="+mn-ea"/>
              </a:rPr>
              <a:t>               3</a:t>
            </a:r>
            <a:r>
              <a:rPr lang="zh-CN" altLang="en-US" sz="1500" b="1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500" b="1" dirty="0">
                <a:sym typeface="+mn-ea"/>
              </a:rPr>
              <a:t>各范式的</a:t>
            </a:r>
            <a:r>
              <a:rPr lang="zh-CN" altLang="en-US" sz="1500" b="1" dirty="0">
                <a:sym typeface="+mn-ea"/>
              </a:rPr>
              <a:t>判定条件及</a:t>
            </a:r>
            <a:r>
              <a:rPr lang="en-US" altLang="zh-CN" sz="1500" b="1" dirty="0">
                <a:sym typeface="+mn-ea"/>
              </a:rPr>
              <a:t>特点</a:t>
            </a:r>
            <a:r>
              <a:rPr lang="zh-CN" altLang="en-US" sz="1500" b="1" dirty="0">
                <a:sym typeface="+mn-ea"/>
              </a:rPr>
              <a:t>；</a:t>
            </a:r>
            <a:endParaRPr lang="en-US" altLang="zh-CN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</a:t>
            </a:r>
            <a:r>
              <a:rPr lang="en-US" altLang="zh-CN" sz="1500" b="1" dirty="0">
                <a:solidFill>
                  <a:srgbClr val="00B0F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关系模式范式级别判断（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 pitchFamily="34" charset="0"/>
              </a:rPr>
              <a:t>二元关系、全码等</a:t>
            </a:r>
            <a:r>
              <a:rPr lang="en-US" altLang="zh-CN" sz="1500" b="1" dirty="0">
                <a:solidFill>
                  <a:srgbClr val="FF0000"/>
                </a:solidFill>
                <a:latin typeface="Arial" panose="020B0604020202020204" pitchFamily="34" charset="0"/>
              </a:rPr>
              <a:t>特殊关系模式的范式判定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</a:t>
            </a:r>
            <a:r>
              <a:rPr lang="en-US" altLang="zh-CN" sz="1500" b="1" dirty="0">
                <a:solidFill>
                  <a:srgbClr val="00B0F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1500" b="1" dirty="0">
                <a:sym typeface="+mn-ea"/>
              </a:rPr>
              <a:t>根据给定关系模式</a:t>
            </a:r>
            <a:r>
              <a:rPr lang="en-US" altLang="zh-CN" sz="1500" b="1" i="1" dirty="0">
                <a:sym typeface="+mn-ea"/>
              </a:rPr>
              <a:t>R</a:t>
            </a:r>
            <a:r>
              <a:rPr lang="en-US" altLang="zh-CN" sz="1500" b="1" dirty="0">
                <a:sym typeface="+mn-ea"/>
              </a:rPr>
              <a:t>&lt; </a:t>
            </a:r>
            <a:r>
              <a:rPr lang="en-US" altLang="zh-CN" sz="1500" b="1" i="1" dirty="0">
                <a:sym typeface="+mn-ea"/>
              </a:rPr>
              <a:t>U</a:t>
            </a:r>
            <a:r>
              <a:rPr lang="zh-CN" altLang="en-US" sz="1500" b="1" dirty="0">
                <a:sym typeface="+mn-ea"/>
              </a:rPr>
              <a:t>，</a:t>
            </a:r>
            <a:r>
              <a:rPr lang="en-US" altLang="zh-CN" sz="1500" b="1" i="1" dirty="0">
                <a:sym typeface="+mn-ea"/>
              </a:rPr>
              <a:t>F </a:t>
            </a:r>
            <a:r>
              <a:rPr lang="en-US" altLang="zh-CN" sz="1500" b="1" dirty="0">
                <a:sym typeface="+mn-ea"/>
              </a:rPr>
              <a:t>&gt;</a:t>
            </a:r>
            <a:r>
              <a:rPr lang="zh-CN" altLang="en-US" sz="1500" b="1" dirty="0">
                <a:sym typeface="+mn-ea"/>
              </a:rPr>
              <a:t>，利用求特定属性组</a:t>
            </a:r>
            <a:r>
              <a:rPr lang="en-US" altLang="zh-CN" sz="1500" b="1" i="1" dirty="0">
                <a:sym typeface="+mn-ea"/>
              </a:rPr>
              <a:t>X</a:t>
            </a:r>
            <a:r>
              <a:rPr lang="zh-CN" altLang="en-US" sz="1500" b="1" dirty="0">
                <a:sym typeface="+mn-ea"/>
              </a:rPr>
              <a:t>关于</a:t>
            </a:r>
            <a:r>
              <a:rPr lang="en-US" altLang="zh-CN" sz="1500" b="1" i="1" dirty="0">
                <a:sym typeface="+mn-ea"/>
              </a:rPr>
              <a:t>F</a:t>
            </a:r>
            <a:r>
              <a:rPr lang="zh-CN" altLang="en-US" sz="1500" b="1" dirty="0">
                <a:sym typeface="+mn-ea"/>
              </a:rPr>
              <a:t>的闭包</a:t>
            </a:r>
            <a:r>
              <a:rPr lang="en-US" altLang="zh-CN" sz="1500" b="1" i="1" dirty="0">
                <a:sym typeface="+mn-ea"/>
              </a:rPr>
              <a:t>X</a:t>
            </a:r>
            <a:r>
              <a:rPr lang="en-US" altLang="zh-CN" sz="1500" b="1" i="1" baseline="-25000" dirty="0">
                <a:sym typeface="+mn-ea"/>
              </a:rPr>
              <a:t>F</a:t>
            </a:r>
            <a:r>
              <a:rPr lang="en-US" altLang="zh-CN" sz="1500" b="1" baseline="30000" dirty="0">
                <a:sym typeface="+mn-ea"/>
              </a:rPr>
              <a:t>+</a:t>
            </a:r>
            <a:r>
              <a:rPr lang="zh-CN" altLang="en-US" sz="1500" b="1" dirty="0">
                <a:sym typeface="+mn-ea"/>
              </a:rPr>
              <a:t>算法确定</a:t>
            </a:r>
            <a:r>
              <a:rPr lang="en-US" altLang="zh-CN" sz="1500" b="1" i="1" dirty="0">
                <a:sym typeface="+mn-ea"/>
              </a:rPr>
              <a:t>R</a:t>
            </a:r>
            <a:r>
              <a:rPr lang="en-US" altLang="zh-CN" sz="1500" b="1" dirty="0">
                <a:sym typeface="+mn-ea"/>
              </a:rPr>
              <a:t>&lt; </a:t>
            </a:r>
            <a:r>
              <a:rPr lang="en-US" altLang="zh-CN" sz="1500" b="1" i="1" dirty="0">
                <a:sym typeface="+mn-ea"/>
              </a:rPr>
              <a:t>U</a:t>
            </a:r>
            <a:r>
              <a:rPr lang="zh-CN" altLang="en-US" sz="1500" b="1" dirty="0">
                <a:sym typeface="+mn-ea"/>
              </a:rPr>
              <a:t>，</a:t>
            </a:r>
            <a:r>
              <a:rPr lang="en-US" altLang="zh-CN" sz="1500" b="1" i="1" dirty="0">
                <a:sym typeface="+mn-ea"/>
              </a:rPr>
              <a:t>F </a:t>
            </a:r>
            <a:r>
              <a:rPr lang="en-US" altLang="zh-CN" sz="1500" b="1" dirty="0">
                <a:sym typeface="+mn-ea"/>
              </a:rPr>
              <a:t>&gt;</a:t>
            </a:r>
            <a:r>
              <a:rPr lang="zh-CN" altLang="en-US" sz="1500" b="1" dirty="0">
                <a:sym typeface="+mn-ea"/>
              </a:rPr>
              <a:t>的候选码；确定其范式等级，并说明理由；根据要求将关系模式规范化到指定范式级别；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</a:pP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6"/>
          <p:cNvSpPr txBox="1">
            <a:spLocks noGrp="1"/>
          </p:cNvSpPr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r"/>
            <a:fld id="{9A0DB2DC-4C9A-4742-B13C-FB6460FD3503}" type="slidenum">
              <a:rPr lang="en-US" altLang="zh-CN" sz="1400" dirty="0">
                <a:solidFill>
                  <a:srgbClr val="00403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rgbClr val="00403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390525" y="0"/>
            <a:ext cx="7783513" cy="960438"/>
          </a:xfrm>
        </p:spPr>
        <p:txBody>
          <a:bodyPr vert="horz" wrap="square" lIns="91440" tIns="45720" rIns="91440" bIns="45720" anchor="ctr" anchorCtr="0"/>
          <a:p>
            <a:r>
              <a:rPr lang="zh-CN" altLang="en-US" sz="4800" dirty="0">
                <a:solidFill>
                  <a:schemeClr val="tx1"/>
                </a:solidFill>
              </a:rPr>
              <a:t>复习</a:t>
            </a:r>
            <a:endParaRPr lang="zh-CN" altLang="en-US" sz="4800" dirty="0">
              <a:solidFill>
                <a:schemeClr val="tx1"/>
              </a:solidFill>
            </a:endParaRPr>
          </a:p>
        </p:txBody>
      </p:sp>
      <p:sp>
        <p:nvSpPr>
          <p:cNvPr id="9220" name="Text Box 9"/>
          <p:cNvSpPr txBox="1"/>
          <p:nvPr/>
        </p:nvSpPr>
        <p:spPr>
          <a:xfrm>
            <a:off x="533400" y="960755"/>
            <a:ext cx="8087995" cy="2254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500" b="1" dirty="0">
                <a:latin typeface="Arial" panose="020B0604020202020204" pitchFamily="34" charset="0"/>
              </a:rPr>
              <a:t> </a:t>
            </a:r>
            <a:r>
              <a:rPr lang="zh-CN" altLang="en-US" sz="1500" b="1" dirty="0">
                <a:sym typeface="+mn-ea"/>
              </a:rPr>
              <a:t>第七章：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1500" b="1" dirty="0">
                <a:sym typeface="+mn-ea"/>
              </a:rPr>
              <a:t>                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、根据给定应用场景及语义描述，绘制其概念模型（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E-R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图）；</a:t>
            </a:r>
            <a:endParaRPr lang="en-US" altLang="zh-CN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2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E-R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模型转化成关系模型的规则及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 pitchFamily="34" charset="0"/>
              </a:rPr>
              <a:t>应用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第八章：</a:t>
            </a:r>
            <a:endParaRPr lang="en-US" altLang="zh-CN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</a:pPr>
            <a:r>
              <a:rPr lang="en-US" altLang="zh-CN" sz="1500" b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1</a:t>
            </a: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、存储过程相关知识；</a:t>
            </a:r>
            <a:endParaRPr lang="zh-CN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UxMDdmNDI3OTdhMjEyNDhjMWJjNTlhMTM5MTI1NDEifQ=="/>
  <p:tag name="KSO_WPP_MARK_KEY" val="afc79f12-250f-4b0e-853a-5b2ce34f41c9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7F7F7"/>
      </a:lt1>
      <a:dk2>
        <a:srgbClr val="000000"/>
      </a:dk2>
      <a:lt2>
        <a:srgbClr val="B2B2B2"/>
      </a:lt2>
      <a:accent1>
        <a:srgbClr val="B3CCE6"/>
      </a:accent1>
      <a:accent2>
        <a:srgbClr val="6698CC"/>
      </a:accent2>
      <a:accent3>
        <a:srgbClr val="FAFAFA"/>
      </a:accent3>
      <a:accent4>
        <a:srgbClr val="000000"/>
      </a:accent4>
      <a:accent5>
        <a:srgbClr val="D6E2F0"/>
      </a:accent5>
      <a:accent6>
        <a:srgbClr val="5C89B9"/>
      </a:accent6>
      <a:hlink>
        <a:srgbClr val="336599"/>
      </a:hlink>
      <a:folHlink>
        <a:srgbClr val="2E4C6B"/>
      </a:folHlink>
    </a:clrScheme>
    <a:fontScheme name="Default Design">
      <a:majorFont>
        <a:latin typeface="黑体"/>
        <a:ea typeface="黑体"/>
        <a:cs typeface="Arial"/>
      </a:majorFont>
      <a:minorFont>
        <a:latin typeface="黑体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7F7F7"/>
        </a:lt1>
        <a:dk2>
          <a:srgbClr val="000000"/>
        </a:dk2>
        <a:lt2>
          <a:srgbClr val="B2B2B2"/>
        </a:lt2>
        <a:accent1>
          <a:srgbClr val="B3CCE6"/>
        </a:accent1>
        <a:accent2>
          <a:srgbClr val="6698CC"/>
        </a:accent2>
        <a:accent3>
          <a:srgbClr val="FAFAFA"/>
        </a:accent3>
        <a:accent4>
          <a:srgbClr val="000000"/>
        </a:accent4>
        <a:accent5>
          <a:srgbClr val="D6E2F0"/>
        </a:accent5>
        <a:accent6>
          <a:srgbClr val="5C89B9"/>
        </a:accent6>
        <a:hlink>
          <a:srgbClr val="336599"/>
        </a:hlink>
        <a:folHlink>
          <a:srgbClr val="2E4C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7F7F7"/>
        </a:lt1>
        <a:dk2>
          <a:srgbClr val="000000"/>
        </a:dk2>
        <a:lt2>
          <a:srgbClr val="B2B2B2"/>
        </a:lt2>
        <a:accent1>
          <a:srgbClr val="66B8CC"/>
        </a:accent1>
        <a:accent2>
          <a:srgbClr val="6698CC"/>
        </a:accent2>
        <a:accent3>
          <a:srgbClr val="FAFAFA"/>
        </a:accent3>
        <a:accent4>
          <a:srgbClr val="000000"/>
        </a:accent4>
        <a:accent5>
          <a:srgbClr val="B8D8E2"/>
        </a:accent5>
        <a:accent6>
          <a:srgbClr val="5C89B9"/>
        </a:accent6>
        <a:hlink>
          <a:srgbClr val="302F9E"/>
        </a:hlink>
        <a:folHlink>
          <a:srgbClr val="32659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7F7F7"/>
        </a:lt1>
        <a:dk2>
          <a:srgbClr val="000000"/>
        </a:dk2>
        <a:lt2>
          <a:srgbClr val="B2B2B2"/>
        </a:lt2>
        <a:accent1>
          <a:srgbClr val="D6BB2E"/>
        </a:accent1>
        <a:accent2>
          <a:srgbClr val="CF8A2B"/>
        </a:accent2>
        <a:accent3>
          <a:srgbClr val="FAFAFA"/>
        </a:accent3>
        <a:accent4>
          <a:srgbClr val="000000"/>
        </a:accent4>
        <a:accent5>
          <a:srgbClr val="E8DAAD"/>
        </a:accent5>
        <a:accent6>
          <a:srgbClr val="BB7D26"/>
        </a:accent6>
        <a:hlink>
          <a:srgbClr val="32659A"/>
        </a:hlink>
        <a:folHlink>
          <a:srgbClr val="87492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7F7F7"/>
        </a:lt1>
        <a:dk2>
          <a:srgbClr val="000000"/>
        </a:dk2>
        <a:lt2>
          <a:srgbClr val="B2B2B2"/>
        </a:lt2>
        <a:accent1>
          <a:srgbClr val="488AD1"/>
        </a:accent1>
        <a:accent2>
          <a:srgbClr val="98AC1B"/>
        </a:accent2>
        <a:accent3>
          <a:srgbClr val="FAFAFA"/>
        </a:accent3>
        <a:accent4>
          <a:srgbClr val="000000"/>
        </a:accent4>
        <a:accent5>
          <a:srgbClr val="B1C4E5"/>
        </a:accent5>
        <a:accent6>
          <a:srgbClr val="899B17"/>
        </a:accent6>
        <a:hlink>
          <a:srgbClr val="9A6D32"/>
        </a:hlink>
        <a:folHlink>
          <a:srgbClr val="6B2E6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3CCE6"/>
        </a:accent1>
        <a:accent2>
          <a:srgbClr val="6698CC"/>
        </a:accent2>
        <a:accent3>
          <a:srgbClr val="FFFFFF"/>
        </a:accent3>
        <a:accent4>
          <a:srgbClr val="000000"/>
        </a:accent4>
        <a:accent5>
          <a:srgbClr val="D6E2F0"/>
        </a:accent5>
        <a:accent6>
          <a:srgbClr val="5C89B9"/>
        </a:accent6>
        <a:hlink>
          <a:srgbClr val="336599"/>
        </a:hlink>
        <a:folHlink>
          <a:srgbClr val="2E4C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B8CC"/>
        </a:accent1>
        <a:accent2>
          <a:srgbClr val="6698CC"/>
        </a:accent2>
        <a:accent3>
          <a:srgbClr val="FFFFFF"/>
        </a:accent3>
        <a:accent4>
          <a:srgbClr val="000000"/>
        </a:accent4>
        <a:accent5>
          <a:srgbClr val="B8D8E2"/>
        </a:accent5>
        <a:accent6>
          <a:srgbClr val="5C89B9"/>
        </a:accent6>
        <a:hlink>
          <a:srgbClr val="302F9E"/>
        </a:hlink>
        <a:folHlink>
          <a:srgbClr val="32659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D6BB2E"/>
        </a:accent1>
        <a:accent2>
          <a:srgbClr val="CF8A2B"/>
        </a:accent2>
        <a:accent3>
          <a:srgbClr val="FFFFFF"/>
        </a:accent3>
        <a:accent4>
          <a:srgbClr val="000000"/>
        </a:accent4>
        <a:accent5>
          <a:srgbClr val="E8DAAD"/>
        </a:accent5>
        <a:accent6>
          <a:srgbClr val="BB7D26"/>
        </a:accent6>
        <a:hlink>
          <a:srgbClr val="32659A"/>
        </a:hlink>
        <a:folHlink>
          <a:srgbClr val="87492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488AD1"/>
        </a:accent1>
        <a:accent2>
          <a:srgbClr val="98AC1B"/>
        </a:accent2>
        <a:accent3>
          <a:srgbClr val="FFFFFF"/>
        </a:accent3>
        <a:accent4>
          <a:srgbClr val="000000"/>
        </a:accent4>
        <a:accent5>
          <a:srgbClr val="B1C4E5"/>
        </a:accent5>
        <a:accent6>
          <a:srgbClr val="899B17"/>
        </a:accent6>
        <a:hlink>
          <a:srgbClr val="9A6D32"/>
        </a:hlink>
        <a:folHlink>
          <a:srgbClr val="6B2E6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WPS 演示</Application>
  <PresentationFormat>全屏显示(4:3)</PresentationFormat>
  <Paragraphs>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黑体</vt:lpstr>
      <vt:lpstr>Times New Roman</vt:lpstr>
      <vt:lpstr>Wingdings</vt:lpstr>
      <vt:lpstr>微软雅黑</vt:lpstr>
      <vt:lpstr>Arial Unicode MS</vt:lpstr>
      <vt:lpstr>Default Design</vt:lpstr>
      <vt:lpstr>PowerPoint 演示文稿</vt:lpstr>
      <vt:lpstr>复习</vt:lpstr>
      <vt:lpstr>复习</vt:lpstr>
      <vt:lpstr>复习</vt:lpstr>
      <vt:lpstr>复习</vt:lpstr>
    </vt:vector>
  </TitlesOfParts>
  <Company>Indezine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Geetesh Bajaj</dc:creator>
  <cp:lastModifiedBy>hachiko</cp:lastModifiedBy>
  <cp:revision>886</cp:revision>
  <dcterms:created xsi:type="dcterms:W3CDTF">2007-01-10T06:17:00Z</dcterms:created>
  <dcterms:modified xsi:type="dcterms:W3CDTF">2026-06-10T05:40:06Z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C55A2714E36247708FCE6CC922B34130</vt:lpwstr>
  </property>
</Properties>
</file>